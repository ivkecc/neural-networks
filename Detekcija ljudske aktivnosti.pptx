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31"/>
  </p:notesMasterIdLst>
  <p:handoutMasterIdLst>
    <p:handoutMasterId r:id="rId32"/>
  </p:handoutMasterIdLst>
  <p:sldIdLst>
    <p:sldId id="278" r:id="rId5"/>
    <p:sldId id="282" r:id="rId6"/>
    <p:sldId id="293" r:id="rId7"/>
    <p:sldId id="294" r:id="rId8"/>
    <p:sldId id="295" r:id="rId9"/>
    <p:sldId id="285" r:id="rId10"/>
    <p:sldId id="298" r:id="rId11"/>
    <p:sldId id="305" r:id="rId12"/>
    <p:sldId id="306" r:id="rId13"/>
    <p:sldId id="296" r:id="rId14"/>
    <p:sldId id="311" r:id="rId15"/>
    <p:sldId id="312" r:id="rId16"/>
    <p:sldId id="297" r:id="rId17"/>
    <p:sldId id="308" r:id="rId18"/>
    <p:sldId id="307" r:id="rId19"/>
    <p:sldId id="299" r:id="rId20"/>
    <p:sldId id="309" r:id="rId21"/>
    <p:sldId id="310" r:id="rId22"/>
    <p:sldId id="300" r:id="rId23"/>
    <p:sldId id="314" r:id="rId24"/>
    <p:sldId id="313" r:id="rId25"/>
    <p:sldId id="303" r:id="rId26"/>
    <p:sldId id="304" r:id="rId27"/>
    <p:sldId id="315" r:id="rId28"/>
    <p:sldId id="288" r:id="rId29"/>
    <p:sldId id="29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314BB-854F-64BF-A021-A86944A0D116}" v="131" dt="2026-07-04T23:47:02.240"/>
    <p1510:client id="{7F1D140E-A8FB-2704-7BDB-A2F49ABD9A07}" v="1686" dt="2026-07-04T23:05:14.410"/>
    <p1510:client id="{D34D1A27-25C8-124B-24CF-3295F1004F1D}" v="112" dt="2026-07-05T16:42:21.102"/>
  </p1510:revLst>
</p1510:revInfo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57" autoAdjust="0"/>
    <p:restoredTop sz="95388" autoAdjust="0"/>
  </p:normalViewPr>
  <p:slideViewPr>
    <p:cSldViewPr snapToGrid="0">
      <p:cViewPr varScale="1">
        <p:scale>
          <a:sx n="98" d="100"/>
          <a:sy n="98" d="100"/>
        </p:scale>
        <p:origin x="54" y="67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541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621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331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378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16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2786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346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793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943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055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98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52056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48338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384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anchor="b">
            <a:no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470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404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28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110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anchor="b" anchorCtr="0">
            <a:noAutofit/>
          </a:bodyPr>
          <a:lstStyle>
            <a:lvl1pPr algn="r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algn="r">
              <a:defRPr sz="1200">
                <a:solidFill>
                  <a:schemeClr val="tx1"/>
                </a:solidFill>
              </a:defRPr>
            </a:lvl2pPr>
            <a:lvl3pPr algn="r">
              <a:defRPr sz="1200">
                <a:solidFill>
                  <a:schemeClr val="tx1"/>
                </a:solidFill>
              </a:defRPr>
            </a:lvl3pPr>
            <a:lvl4pPr algn="r">
              <a:defRPr sz="1200">
                <a:solidFill>
                  <a:schemeClr val="tx1"/>
                </a:solidFill>
              </a:defRPr>
            </a:lvl4pPr>
            <a:lvl5pPr algn="r"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2080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31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0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4655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3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55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Autofit/>
          </a:bodyPr>
          <a:lstStyle/>
          <a:p>
            <a:r>
              <a:rPr lang="en-US" sz="4000" b="1" err="1">
                <a:latin typeface="Times New Roman"/>
                <a:cs typeface="Times New Roman"/>
              </a:rPr>
              <a:t>Detekcija</a:t>
            </a:r>
            <a:r>
              <a:rPr lang="en-US" sz="4000" b="1">
                <a:latin typeface="Times New Roman"/>
                <a:cs typeface="Times New Roman"/>
              </a:rPr>
              <a:t> </a:t>
            </a:r>
            <a:r>
              <a:rPr lang="en-US" sz="4000" b="1" err="1">
                <a:latin typeface="Times New Roman"/>
                <a:cs typeface="Times New Roman"/>
              </a:rPr>
              <a:t>ljudskih</a:t>
            </a:r>
            <a:r>
              <a:rPr lang="en-US" sz="4000" b="1">
                <a:latin typeface="Times New Roman"/>
                <a:cs typeface="Times New Roman"/>
              </a:rPr>
              <a:t> </a:t>
            </a:r>
            <a:r>
              <a:rPr lang="en-US" sz="4000" b="1" err="1">
                <a:latin typeface="Times New Roman"/>
                <a:cs typeface="Times New Roman"/>
              </a:rPr>
              <a:t>aktivnosti</a:t>
            </a:r>
            <a:endParaRPr lang="en-US" sz="4000" b="1">
              <a:latin typeface="Times New Roman"/>
              <a:cs typeface="Times New Roman"/>
            </a:endParaRPr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401CBD-ACC7-44E1-2F25-DF0C91376CFB}"/>
              </a:ext>
            </a:extLst>
          </p:cNvPr>
          <p:cNvSpPr txBox="1"/>
          <p:nvPr/>
        </p:nvSpPr>
        <p:spPr>
          <a:xfrm>
            <a:off x="8712152" y="5377717"/>
            <a:ext cx="329682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Marko </a:t>
            </a:r>
            <a:r>
              <a:rPr lang="en-US"/>
              <a:t>Vasilić RA166/2023</a:t>
            </a:r>
          </a:p>
          <a:p>
            <a:r>
              <a:rPr lang="en-US"/>
              <a:t>Luka Ivanković RA178/2023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92" y="483924"/>
            <a:ext cx="11112046" cy="704345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Problem koji </a:t>
            </a:r>
            <a:r>
              <a:rPr lang="en-US" dirty="0" err="1">
                <a:latin typeface="Times New Roman"/>
                <a:cs typeface="Times New Roman"/>
              </a:rPr>
              <a:t>rešavamo</a:t>
            </a:r>
            <a:r>
              <a:rPr lang="en-US" dirty="0">
                <a:latin typeface="Times New Roman"/>
                <a:cs typeface="Times New Roman"/>
              </a:rPr>
              <a:t> 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0FB0B9-DAB1-8570-4EC2-85F152A1C3EB}"/>
              </a:ext>
            </a:extLst>
          </p:cNvPr>
          <p:cNvSpPr txBox="1"/>
          <p:nvPr/>
        </p:nvSpPr>
        <p:spPr>
          <a:xfrm>
            <a:off x="528468" y="2020203"/>
            <a:ext cx="4480441" cy="3249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</a:pPr>
            <a:r>
              <a:rPr lang="en-US" sz="2000" b="1" dirty="0" err="1">
                <a:latin typeface="Times New Roman"/>
                <a:ea typeface="+mn-lt"/>
                <a:cs typeface="Times New Roman"/>
              </a:rPr>
              <a:t>Ljudske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b="1" dirty="0" err="1">
                <a:latin typeface="Times New Roman"/>
                <a:ea typeface="+mn-lt"/>
                <a:cs typeface="Times New Roman"/>
              </a:rPr>
              <a:t>aktivnosti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:</a:t>
            </a:r>
            <a:endParaRPr lang="en-US" sz="2000" b="1">
              <a:latin typeface="Times New Roman"/>
              <a:cs typeface="Times New Roman"/>
            </a:endParaRPr>
          </a:p>
          <a:p>
            <a:pPr marL="285750">
              <a:spcAft>
                <a:spcPts val="500"/>
              </a:spcAft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Walking </a:t>
            </a:r>
            <a:endParaRPr lang="en-US" sz="2000">
              <a:latin typeface="Times New Roman"/>
              <a:cs typeface="Times New Roman"/>
            </a:endParaRPr>
          </a:p>
          <a:p>
            <a:pPr marL="285750">
              <a:spcAft>
                <a:spcPts val="500"/>
              </a:spcAft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Walking Upstairs </a:t>
            </a:r>
            <a:endParaRPr lang="en-US" sz="2000">
              <a:latin typeface="Times New Roman"/>
              <a:cs typeface="Times New Roman"/>
            </a:endParaRPr>
          </a:p>
          <a:p>
            <a:pPr marL="285750">
              <a:spcAft>
                <a:spcPts val="500"/>
              </a:spcAft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Walking Downstairs </a:t>
            </a:r>
            <a:endParaRPr lang="en-US" sz="2000">
              <a:latin typeface="Times New Roman"/>
              <a:cs typeface="Times New Roman"/>
            </a:endParaRPr>
          </a:p>
          <a:p>
            <a:pPr marL="285750">
              <a:spcAft>
                <a:spcPts val="500"/>
              </a:spcAft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Sitting </a:t>
            </a:r>
            <a:endParaRPr lang="en-US" sz="2000">
              <a:latin typeface="Times New Roman"/>
              <a:cs typeface="Times New Roman"/>
            </a:endParaRPr>
          </a:p>
          <a:p>
            <a:pPr marL="285750">
              <a:spcAft>
                <a:spcPts val="500"/>
              </a:spcAft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Standing </a:t>
            </a:r>
            <a:endParaRPr lang="en-US" sz="2000">
              <a:latin typeface="Times New Roman"/>
              <a:cs typeface="Times New Roman"/>
            </a:endParaRPr>
          </a:p>
          <a:p>
            <a:pPr marL="285750">
              <a:spcAft>
                <a:spcPts val="500"/>
              </a:spcAft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Laying </a:t>
            </a:r>
            <a:endParaRPr lang="en-US" sz="2000">
              <a:latin typeface="Times New Roman"/>
              <a:cs typeface="Times New Roman"/>
            </a:endParaRPr>
          </a:p>
          <a:p>
            <a:endParaRPr lang="en-US" dirty="0"/>
          </a:p>
          <a:p>
            <a:pPr algn="l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F490C9-7BC8-4436-5EDB-C2434E051CD0}"/>
              </a:ext>
            </a:extLst>
          </p:cNvPr>
          <p:cNvSpPr txBox="1"/>
          <p:nvPr/>
        </p:nvSpPr>
        <p:spPr>
          <a:xfrm>
            <a:off x="6087610" y="2022818"/>
            <a:ext cx="4795807" cy="26007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</a:pPr>
            <a:r>
              <a:rPr lang="en-US" sz="2000" b="1" dirty="0" err="1">
                <a:latin typeface="Times New Roman"/>
                <a:cs typeface="Times New Roman"/>
              </a:rPr>
              <a:t>Ulaz</a:t>
            </a:r>
            <a:r>
              <a:rPr lang="en-US" sz="2000" b="1" dirty="0">
                <a:latin typeface="Times New Roman"/>
                <a:cs typeface="Times New Roman"/>
              </a:rPr>
              <a:t>:</a:t>
            </a:r>
            <a:endParaRPr lang="en-US" b="1"/>
          </a:p>
          <a:p>
            <a:pPr marL="285750">
              <a:spcAft>
                <a:spcPts val="500"/>
              </a:spcAft>
              <a:buFont typeface="Arial,Sans-Serif"/>
              <a:buChar char="•"/>
            </a:pPr>
            <a:r>
              <a:rPr lang="en-US" sz="2000" dirty="0" err="1">
                <a:latin typeface="Times New Roman"/>
                <a:cs typeface="Times New Roman"/>
              </a:rPr>
              <a:t>Signali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akcelerometra</a:t>
            </a:r>
            <a:r>
              <a:rPr lang="en-US" sz="2000" dirty="0">
                <a:latin typeface="Times New Roman"/>
                <a:cs typeface="Times New Roman"/>
              </a:rPr>
              <a:t> </a:t>
            </a:r>
          </a:p>
          <a:p>
            <a:pPr marL="285750">
              <a:spcAft>
                <a:spcPts val="500"/>
              </a:spcAft>
              <a:buFont typeface="Arial,Sans-Serif"/>
              <a:buChar char="•"/>
            </a:pPr>
            <a:r>
              <a:rPr lang="en-US" sz="2000" dirty="0" err="1">
                <a:latin typeface="Times New Roman"/>
                <a:cs typeface="Times New Roman"/>
              </a:rPr>
              <a:t>Signali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žiroskopa</a:t>
            </a:r>
            <a:r>
              <a:rPr lang="en-US" sz="2000" dirty="0">
                <a:latin typeface="Times New Roman"/>
                <a:cs typeface="Times New Roman"/>
              </a:rPr>
              <a:t> </a:t>
            </a:r>
          </a:p>
          <a:p>
            <a:pPr marL="285750">
              <a:spcAft>
                <a:spcPts val="500"/>
              </a:spcAft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</a:pPr>
            <a:r>
              <a:rPr lang="en-US" sz="2000" b="1" dirty="0" err="1">
                <a:latin typeface="Times New Roman"/>
                <a:cs typeface="Times New Roman"/>
              </a:rPr>
              <a:t>Izlaz</a:t>
            </a:r>
            <a:r>
              <a:rPr lang="en-US" sz="2000" b="1" dirty="0">
                <a:latin typeface="Times New Roman"/>
                <a:cs typeface="Times New Roman"/>
              </a:rPr>
              <a:t>:</a:t>
            </a:r>
          </a:p>
          <a:p>
            <a:pPr marL="285750">
              <a:spcAft>
                <a:spcPts val="500"/>
              </a:spcAft>
              <a:buFont typeface="Arial,Sans-Serif"/>
              <a:buChar char="•"/>
            </a:pPr>
            <a:r>
              <a:rPr lang="en-US" sz="2000" dirty="0" err="1">
                <a:latin typeface="Times New Roman"/>
                <a:cs typeface="Times New Roman"/>
              </a:rPr>
              <a:t>predikovana</a:t>
            </a:r>
            <a:r>
              <a:rPr lang="en-US" sz="2000" dirty="0">
                <a:latin typeface="Times New Roman"/>
                <a:cs typeface="Times New Roman"/>
              </a:rPr>
              <a:t> </a:t>
            </a:r>
            <a:r>
              <a:rPr lang="en-US" sz="2000" dirty="0" err="1">
                <a:latin typeface="Times New Roman"/>
                <a:cs typeface="Times New Roman"/>
              </a:rPr>
              <a:t>aktivnost</a:t>
            </a:r>
            <a:endParaRPr lang="en-US" sz="2000" dirty="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896E8-715B-170B-54C3-74AF65390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69659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D046B-6B3B-303D-DD99-211EB90F3C83}"/>
              </a:ext>
            </a:extLst>
          </p:cNvPr>
          <p:cNvSpPr txBox="1"/>
          <p:nvPr/>
        </p:nvSpPr>
        <p:spPr>
          <a:xfrm>
            <a:off x="664380" y="1968068"/>
            <a:ext cx="5390252" cy="4387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461F1-38D9-5C02-ADBC-D7887EA37123}"/>
              </a:ext>
            </a:extLst>
          </p:cNvPr>
          <p:cNvSpPr txBox="1"/>
          <p:nvPr/>
        </p:nvSpPr>
        <p:spPr>
          <a:xfrm>
            <a:off x="827340" y="1767501"/>
            <a:ext cx="5139543" cy="4901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64593-0AFD-B985-262E-9A8288E2FAEC}"/>
              </a:ext>
            </a:extLst>
          </p:cNvPr>
          <p:cNvSpPr txBox="1"/>
          <p:nvPr/>
        </p:nvSpPr>
        <p:spPr>
          <a:xfrm>
            <a:off x="553544" y="1966094"/>
            <a:ext cx="4738408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UCI HAR Dataset</a:t>
            </a:r>
          </a:p>
          <a:p>
            <a:endParaRPr lang="en-US" sz="2400" b="1" dirty="0">
              <a:latin typeface="Times New Roman"/>
              <a:ea typeface="+mn-lt"/>
              <a:cs typeface="Times New Roman"/>
            </a:endParaRPr>
          </a:p>
          <a:p>
            <a:r>
              <a:rPr lang="en-US" sz="2000" b="1" dirty="0" err="1">
                <a:latin typeface="Times New Roman"/>
                <a:cs typeface="Times New Roman"/>
              </a:rPr>
              <a:t>Sadržaj</a:t>
            </a:r>
            <a:r>
              <a:rPr lang="en-US" sz="2000" b="1" dirty="0">
                <a:latin typeface="Times New Roman"/>
                <a:cs typeface="Times New Roman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6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aktivnosti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128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uzoraka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po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prozoru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50 Hz </a:t>
            </a:r>
          </a:p>
          <a:p>
            <a:endParaRPr lang="en-US" sz="2000" dirty="0">
              <a:latin typeface="Times New Roman"/>
              <a:ea typeface="+mn-lt"/>
              <a:cs typeface="Times New Roman"/>
            </a:endParaRPr>
          </a:p>
          <a:p>
            <a:r>
              <a:rPr lang="en-US" sz="2000" b="1" dirty="0" err="1">
                <a:latin typeface="Times New Roman"/>
                <a:ea typeface="+mn-lt"/>
                <a:cs typeface="Times New Roman"/>
              </a:rPr>
              <a:t>Senzori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:</a:t>
            </a:r>
            <a:endParaRPr lang="en-US" sz="2000" b="1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Body Acc X,Y,Z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Gyroscope X,Y,Z</a:t>
            </a:r>
            <a:endParaRPr lang="en-US" sz="200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943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2104-F69E-889B-3DC1-9DB221FD8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55145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Tok </a:t>
            </a:r>
            <a:r>
              <a:rPr lang="en-US" dirty="0" err="1">
                <a:latin typeface="Times New Roman"/>
                <a:cs typeface="Times New Roman"/>
              </a:rPr>
              <a:t>projekta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9FC7F-2095-FD9D-A8BD-5E78D59648E8}"/>
              </a:ext>
            </a:extLst>
          </p:cNvPr>
          <p:cNvSpPr txBox="1"/>
          <p:nvPr/>
        </p:nvSpPr>
        <p:spPr>
          <a:xfrm>
            <a:off x="549586" y="1892856"/>
            <a:ext cx="4389389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latin typeface="Times New Roman"/>
                <a:ea typeface="+mn-lt"/>
                <a:cs typeface="Times New Roman"/>
              </a:rPr>
              <a:t>Senzori</a:t>
            </a:r>
            <a:endParaRPr lang="en-US" sz="2000" b="1" dirty="0" err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 ↓</a:t>
            </a:r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000" b="1" dirty="0" err="1">
                <a:latin typeface="Times New Roman"/>
                <a:ea typeface="+mn-lt"/>
                <a:cs typeface="Times New Roman"/>
              </a:rPr>
              <a:t>Priprema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b="1" dirty="0" err="1">
                <a:latin typeface="Times New Roman"/>
                <a:ea typeface="+mn-lt"/>
                <a:cs typeface="Times New Roman"/>
              </a:rPr>
              <a:t>podataka</a:t>
            </a:r>
            <a:endParaRPr lang="en-US" sz="2000" b="1" dirty="0" err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 ↓</a:t>
            </a:r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000" b="1" dirty="0" err="1">
                <a:latin typeface="Times New Roman"/>
                <a:ea typeface="+mn-lt"/>
                <a:cs typeface="Times New Roman"/>
              </a:rPr>
              <a:t>Neuronska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b="1" dirty="0" err="1">
                <a:latin typeface="Times New Roman"/>
                <a:ea typeface="+mn-lt"/>
                <a:cs typeface="Times New Roman"/>
              </a:rPr>
              <a:t>mreža</a:t>
            </a:r>
            <a:endParaRPr lang="en-US" sz="2000" b="1" dirty="0" err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 ↓</a:t>
            </a:r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000" b="1" dirty="0" err="1">
                <a:latin typeface="Times New Roman"/>
                <a:ea typeface="+mn-lt"/>
                <a:cs typeface="Times New Roman"/>
              </a:rPr>
              <a:t>Predikcija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b="1" dirty="0" err="1">
                <a:latin typeface="Times New Roman"/>
                <a:ea typeface="+mn-lt"/>
                <a:cs typeface="Times New Roman"/>
              </a:rPr>
              <a:t>aktivnosti</a:t>
            </a:r>
            <a:endParaRPr lang="en-US" sz="2000" b="1" dirty="0" err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8063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A476-DCE4-1510-756A-72941FD2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682574"/>
          </a:xfrm>
        </p:spPr>
        <p:txBody>
          <a:bodyPr/>
          <a:lstStyle/>
          <a:p>
            <a:r>
              <a:rPr lang="en-US" dirty="0" err="1">
                <a:latin typeface="Times New Roman"/>
                <a:ea typeface="+mj-lt"/>
                <a:cs typeface="Times New Roman"/>
              </a:rPr>
              <a:t>Priprema</a:t>
            </a:r>
            <a:r>
              <a:rPr lang="en-US" dirty="0">
                <a:latin typeface="Times New Roman"/>
                <a:ea typeface="+mj-lt"/>
                <a:cs typeface="Times New Roman"/>
              </a:rPr>
              <a:t> </a:t>
            </a:r>
            <a:r>
              <a:rPr lang="en-US" dirty="0" err="1">
                <a:latin typeface="Times New Roman"/>
                <a:ea typeface="+mj-lt"/>
                <a:cs typeface="Times New Roman"/>
              </a:rPr>
              <a:t>podataka</a:t>
            </a:r>
            <a:endParaRPr lang="en-US" dirty="0" err="1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5B19F-CFF5-B75F-F869-20139FC65587}"/>
              </a:ext>
            </a:extLst>
          </p:cNvPr>
          <p:cNvSpPr txBox="1"/>
          <p:nvPr/>
        </p:nvSpPr>
        <p:spPr>
          <a:xfrm>
            <a:off x="601702" y="1754965"/>
            <a:ext cx="412417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Tok </a:t>
            </a:r>
            <a:r>
              <a:rPr lang="en-US" sz="2000" b="1" dirty="0" err="1">
                <a:latin typeface="Times New Roman"/>
                <a:cs typeface="Times New Roman"/>
              </a:rPr>
              <a:t>pripreme</a:t>
            </a:r>
            <a:r>
              <a:rPr lang="en-US" sz="2000" b="1" dirty="0">
                <a:latin typeface="Times New Roman"/>
                <a:cs typeface="Times New Roman"/>
              </a:rPr>
              <a:t>:</a:t>
            </a:r>
          </a:p>
          <a:p>
            <a:endParaRPr lang="en-US" sz="2000" b="1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učitavanje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podataka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normalizacija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train / validation / test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batch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obrada</a:t>
            </a:r>
            <a:endParaRPr lang="en-US" sz="2000" dirty="0" err="1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90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05594"/>
            <a:ext cx="9144000" cy="1357086"/>
          </a:xfrm>
        </p:spPr>
        <p:txBody>
          <a:bodyPr/>
          <a:lstStyle/>
          <a:p>
            <a:r>
              <a:rPr lang="en-US" dirty="0" err="1"/>
              <a:t>Neuronske</a:t>
            </a:r>
            <a:r>
              <a:rPr lang="en-US" dirty="0"/>
              <a:t> </a:t>
            </a:r>
            <a:r>
              <a:rPr lang="en-US" dirty="0" err="1"/>
              <a:t>mreže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CAC45-6A97-480A-FA53-EF62EA413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805945"/>
          </a:xfrm>
        </p:spPr>
        <p:txBody>
          <a:bodyPr/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Dense model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A2BC4E-4F91-5E6E-B112-12229A799014}"/>
              </a:ext>
            </a:extLst>
          </p:cNvPr>
          <p:cNvSpPr txBox="1"/>
          <p:nvPr/>
        </p:nvSpPr>
        <p:spPr>
          <a:xfrm>
            <a:off x="639308" y="1968069"/>
            <a:ext cx="4763479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Baseline model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potpuno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povezani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neuroni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Flatten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Dense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Softmax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ea typeface="+mn-lt"/>
              <a:cs typeface="Times New Roman"/>
            </a:endParaRPr>
          </a:p>
          <a:p>
            <a:r>
              <a:rPr lang="en-US" sz="2000" b="1" dirty="0" err="1">
                <a:latin typeface="Times New Roman"/>
                <a:ea typeface="+mn-lt"/>
                <a:cs typeface="Times New Roman"/>
              </a:rPr>
              <a:t>Prednosti</a:t>
            </a:r>
            <a:endParaRPr lang="en-US" sz="2000" b="1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jednostavan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ea typeface="+mn-lt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Mane</a:t>
            </a:r>
            <a:endParaRPr lang="en-US" sz="2000" b="1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ne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koristi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vremensku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strukturu</a:t>
            </a:r>
            <a:endParaRPr lang="en-US" sz="2000" dirty="0" err="1">
              <a:latin typeface="Gill Sans MT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936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6720-BFA5-B6E7-F0BD-AA697CFD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922059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Rezultati Dense </a:t>
            </a:r>
            <a:r>
              <a:rPr lang="en-US" dirty="0" err="1">
                <a:latin typeface="Times New Roman"/>
                <a:cs typeface="Times New Roman"/>
              </a:rPr>
              <a:t>modela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lr</a:t>
            </a:r>
            <a:r>
              <a:rPr lang="en-US" dirty="0">
                <a:latin typeface="Times New Roman"/>
                <a:cs typeface="Times New Roman"/>
              </a:rPr>
              <a:t>=0.0005/patience=10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BF5B2154-BCB5-3917-A647-0E054DE59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71" y="1606324"/>
            <a:ext cx="4960258" cy="2513240"/>
          </a:xfrm>
          <a:prstGeom prst="rect">
            <a:avLst/>
          </a:prstGeom>
        </p:spPr>
      </p:pic>
      <p:pic>
        <p:nvPicPr>
          <p:cNvPr id="6" name="Picture 5" descr="A graph of a line&#10;&#10;AI-generated content may be incorrect.">
            <a:extLst>
              <a:ext uri="{FF2B5EF4-FFF2-40B4-BE49-F238E27FC236}">
                <a16:creationId xmlns:a16="http://schemas.microsoft.com/office/drawing/2014/main" id="{4ABBA0F7-C38B-0D58-1854-06777D189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830" y="1715406"/>
            <a:ext cx="4956629" cy="2520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20E7D7-85AE-EA43-FC60-BE73F86F9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1" y="4240893"/>
            <a:ext cx="4949371" cy="2505529"/>
          </a:xfrm>
          <a:prstGeom prst="rect">
            <a:avLst/>
          </a:prstGeom>
        </p:spPr>
      </p:pic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943DF6D1-8516-014A-7F14-F95968DDD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508" y="4332968"/>
            <a:ext cx="4940755" cy="240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25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B8AC4-FDA7-26AF-7FC3-9764DEF31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694381"/>
            <a:ext cx="11090275" cy="1197830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Rezultati Dense </a:t>
            </a:r>
            <a:r>
              <a:rPr lang="en-US" dirty="0" err="1">
                <a:latin typeface="Times New Roman"/>
                <a:cs typeface="Times New Roman"/>
              </a:rPr>
              <a:t>modela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lr</a:t>
            </a:r>
            <a:r>
              <a:rPr lang="en-US" dirty="0">
                <a:latin typeface="Times New Roman"/>
                <a:cs typeface="Times New Roman"/>
              </a:rPr>
              <a:t>=0.001/patience=5</a:t>
            </a:r>
            <a:endParaRPr lang="en-US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C00C15A-D752-6F61-D268-8630428F7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54" y="1528308"/>
            <a:ext cx="5054146" cy="2538638"/>
          </a:xfrm>
          <a:prstGeom prst="rect">
            <a:avLst/>
          </a:prstGeom>
        </p:spPr>
      </p:pic>
      <p:pic>
        <p:nvPicPr>
          <p:cNvPr id="6" name="Picture 5" descr="A graph of a line&#10;&#10;AI-generated content may be incorrect.">
            <a:extLst>
              <a:ext uri="{FF2B5EF4-FFF2-40B4-BE49-F238E27FC236}">
                <a16:creationId xmlns:a16="http://schemas.microsoft.com/office/drawing/2014/main" id="{80A69625-F792-CC0C-9BF6-FCB29DBB3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972" y="1526722"/>
            <a:ext cx="4811486" cy="2527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19CF59-7C93-57A2-A566-D7720AE5B8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27" t="-2319" r="-1627" b="2029"/>
          <a:stretch>
            <a:fillRect/>
          </a:stretch>
        </p:blipFill>
        <p:spPr>
          <a:xfrm>
            <a:off x="551543" y="4197350"/>
            <a:ext cx="5050975" cy="24837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087DB3-267B-6342-645C-9F705930A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652" y="4195083"/>
            <a:ext cx="4810125" cy="248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725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3D236-9016-1D87-B991-95C34ECF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834974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CNN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1421B-D14F-DAE4-130D-C4672161BA93}"/>
              </a:ext>
            </a:extLst>
          </p:cNvPr>
          <p:cNvSpPr txBox="1"/>
          <p:nvPr/>
        </p:nvSpPr>
        <p:spPr>
          <a:xfrm>
            <a:off x="701986" y="1880320"/>
            <a:ext cx="4412485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Convolutional Neural Network</a:t>
            </a:r>
          </a:p>
          <a:p>
            <a:endParaRPr lang="en-US" sz="2000" b="1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Conv1D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filteri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feature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mape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MaxPooling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Flatten</a:t>
            </a:r>
            <a:endParaRPr lang="en-US" sz="200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8A37D9-347D-8D0C-331B-F7A09E8BA126}"/>
              </a:ext>
            </a:extLst>
          </p:cNvPr>
          <p:cNvSpPr txBox="1"/>
          <p:nvPr/>
        </p:nvSpPr>
        <p:spPr>
          <a:xfrm>
            <a:off x="6117310" y="1880320"/>
            <a:ext cx="5101936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latin typeface="Times New Roman"/>
                <a:cs typeface="Times New Roman"/>
              </a:rPr>
              <a:t>Zašto</a:t>
            </a:r>
            <a:r>
              <a:rPr lang="en-US" sz="2000" b="1" dirty="0">
                <a:latin typeface="Times New Roman"/>
                <a:cs typeface="Times New Roman"/>
              </a:rPr>
              <a:t> Conv1D?</a:t>
            </a:r>
          </a:p>
          <a:p>
            <a:endParaRPr lang="en-US" sz="2000" dirty="0">
              <a:latin typeface="Times New Roman"/>
              <a:ea typeface="+mn-lt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Conv1D</a:t>
            </a:r>
            <a:endParaRPr lang="en-US" sz="2000" b="1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vremenske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serije</a:t>
            </a:r>
            <a:endParaRPr lang="en-US" sz="2000" dirty="0" err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Conv2D</a:t>
            </a:r>
            <a:endParaRPr lang="en-US" sz="2000" b="1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slike</a:t>
            </a:r>
            <a:endParaRPr lang="en-US" sz="2000" dirty="0" err="1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699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B5FE-0A13-29A2-D05E-F74520DA6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18859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Rezultati</a:t>
            </a:r>
            <a:r>
              <a:rPr lang="en-US" dirty="0">
                <a:latin typeface="Times New Roman"/>
                <a:cs typeface="Times New Roman"/>
              </a:rPr>
              <a:t> CNN </a:t>
            </a:r>
            <a:r>
              <a:rPr lang="en-US" dirty="0" err="1">
                <a:latin typeface="Times New Roman"/>
                <a:cs typeface="Times New Roman"/>
              </a:rPr>
              <a:t>modela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lr</a:t>
            </a:r>
            <a:r>
              <a:rPr lang="en-US" dirty="0">
                <a:latin typeface="Times New Roman"/>
                <a:cs typeface="Times New Roman"/>
              </a:rPr>
              <a:t>=0.0005/patience=10</a:t>
            </a:r>
            <a:endParaRPr lang="en-US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E319D38-448E-5AF5-EB13-A3BD1D0C1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49" y="1398360"/>
            <a:ext cx="4685847" cy="2493736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6A8C1972-D3B4-A266-CB07-861B577EB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856" y="1403350"/>
            <a:ext cx="4680858" cy="26579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DF977D-59EA-EB2A-05BC-DE90B260A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42" y="4059464"/>
            <a:ext cx="4680857" cy="26869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D519B9-73E6-4306-2BF5-B7084BD31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537" y="4122510"/>
            <a:ext cx="4672240" cy="263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60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6A20-FD4F-A691-ED08-E2271239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40631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Rezultati CNN </a:t>
            </a:r>
            <a:r>
              <a:rPr lang="en-US" dirty="0" err="1">
                <a:latin typeface="Times New Roman"/>
                <a:cs typeface="Times New Roman"/>
              </a:rPr>
              <a:t>modela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lr</a:t>
            </a:r>
            <a:r>
              <a:rPr lang="en-US" dirty="0">
                <a:latin typeface="Times New Roman"/>
                <a:cs typeface="Times New Roman"/>
              </a:rPr>
              <a:t>=0.001/patience=5</a:t>
            </a:r>
            <a:endParaRPr lang="en-US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A2054D2B-EAAE-6038-4E4A-34FEEEE5E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29" y="1408112"/>
            <a:ext cx="5069114" cy="2604861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A13CFC06-3DF7-8519-EF8E-DDEF4934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258" y="1410607"/>
            <a:ext cx="4513942" cy="2585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CB4404-7DD6-91ED-BCF7-A862262D3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43" y="4153807"/>
            <a:ext cx="5065485" cy="25853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A1FBF9-0D53-C430-C2CC-2636FCE46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681" y="4158798"/>
            <a:ext cx="4519838" cy="258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31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D761-B529-F154-9106-6452A5584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84174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LSTM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70F582-BDF4-0DEA-D01B-790307840CAA}"/>
              </a:ext>
            </a:extLst>
          </p:cNvPr>
          <p:cNvSpPr txBox="1"/>
          <p:nvPr/>
        </p:nvSpPr>
        <p:spPr>
          <a:xfrm>
            <a:off x="548265" y="1996440"/>
            <a:ext cx="5227291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Long Short-Term </a:t>
            </a:r>
            <a:r>
              <a:rPr lang="en-US" sz="2000" b="1">
                <a:latin typeface="Times New Roman"/>
                <a:cs typeface="Times New Roman"/>
              </a:rPr>
              <a:t>Memory</a:t>
            </a:r>
            <a:endParaRPr lang="en-US" sz="2000" b="1" dirty="0">
              <a:latin typeface="Times New Roman"/>
              <a:cs typeface="Times New Roman"/>
            </a:endParaRPr>
          </a:p>
          <a:p>
            <a:endParaRPr lang="en-US" sz="2000" b="1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Cell State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Hidden State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Forget Gate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Input Gate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Output Gate</a:t>
            </a:r>
            <a:endParaRPr lang="en-US" sz="200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08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9C463-D84D-1010-AF1E-F9DC8560E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878517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Rezultati LSTM </a:t>
            </a:r>
            <a:r>
              <a:rPr lang="en-US" dirty="0" err="1">
                <a:latin typeface="Times New Roman"/>
                <a:cs typeface="Times New Roman"/>
              </a:rPr>
              <a:t>modela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lr</a:t>
            </a:r>
            <a:r>
              <a:rPr lang="en-US" dirty="0">
                <a:latin typeface="Times New Roman"/>
                <a:cs typeface="Times New Roman"/>
              </a:rPr>
              <a:t>=0.0005/patience=10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76071-A133-8478-136C-7E2AFAB8DA65}"/>
              </a:ext>
            </a:extLst>
          </p:cNvPr>
          <p:cNvSpPr txBox="1"/>
          <p:nvPr/>
        </p:nvSpPr>
        <p:spPr>
          <a:xfrm>
            <a:off x="654843" y="1702593"/>
            <a:ext cx="5512593" cy="19526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12" name="Picture 11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B8F00471-6776-4D78-AE1C-285A6965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85" y="4146548"/>
            <a:ext cx="4738915" cy="2708731"/>
          </a:xfrm>
          <a:prstGeom prst="rect">
            <a:avLst/>
          </a:prstGeom>
        </p:spPr>
      </p:pic>
      <p:pic>
        <p:nvPicPr>
          <p:cNvPr id="13" name="Picture 1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32D25169-B6F1-73C1-5C3C-8CE55077B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1555749"/>
            <a:ext cx="4535715" cy="25853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3D34FE-4519-F9E3-5647-28C5DAE4C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37" y="4282168"/>
            <a:ext cx="4519838" cy="2560865"/>
          </a:xfrm>
          <a:prstGeom prst="rect">
            <a:avLst/>
          </a:prstGeom>
        </p:spPr>
      </p:pic>
      <p:pic>
        <p:nvPicPr>
          <p:cNvPr id="16" name="Picture 1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03043F5-D7CD-AF23-819A-2D1BF5B5B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01" y="1539194"/>
            <a:ext cx="4830083" cy="245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25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1ED7-1CA6-4A0C-CC55-F2995D3E7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871259"/>
          </a:xfrm>
        </p:spPr>
        <p:txBody>
          <a:bodyPr/>
          <a:lstStyle/>
          <a:p>
            <a:r>
              <a:rPr lang="en-US" sz="4000" b="0" i="0" u="none" strike="noStrike" baseline="0" dirty="0">
                <a:solidFill>
                  <a:srgbClr val="FFFFFF"/>
                </a:solidFill>
                <a:latin typeface="Times New Roman"/>
              </a:rPr>
              <a:t>Rezultati</a:t>
            </a:r>
            <a:r>
              <a:rPr lang="en-US" dirty="0">
                <a:solidFill>
                  <a:srgbClr val="FFFFFF"/>
                </a:solidFill>
                <a:latin typeface="Times New Roman"/>
              </a:rPr>
              <a:t> LSTM </a:t>
            </a:r>
            <a:r>
              <a:rPr lang="en-US" sz="4000" b="0" i="0" u="none" strike="noStrike" baseline="0" dirty="0" err="1">
                <a:solidFill>
                  <a:srgbClr val="FFFFFF"/>
                </a:solidFill>
                <a:latin typeface="Times New Roman"/>
              </a:rPr>
              <a:t>modela</a:t>
            </a:r>
            <a:r>
              <a:rPr lang="en-US" sz="4000" b="0" i="0" u="none" strike="noStrike" baseline="0" dirty="0">
                <a:solidFill>
                  <a:srgbClr val="FFFFFF"/>
                </a:solidFill>
                <a:latin typeface="Times New Roman"/>
              </a:rPr>
              <a:t> </a:t>
            </a:r>
            <a:r>
              <a:rPr lang="en-US" sz="4000" b="0" i="0" u="none" strike="noStrike" baseline="0" dirty="0" err="1">
                <a:solidFill>
                  <a:srgbClr val="FFFFFF"/>
                </a:solidFill>
                <a:latin typeface="Times New Roman"/>
              </a:rPr>
              <a:t>lr</a:t>
            </a:r>
            <a:r>
              <a:rPr lang="en-US" sz="4000" b="0" i="0" u="none" strike="noStrike" baseline="0" dirty="0">
                <a:solidFill>
                  <a:srgbClr val="FFFFFF"/>
                </a:solidFill>
                <a:latin typeface="Times New Roman"/>
              </a:rPr>
              <a:t>=</a:t>
            </a:r>
            <a:r>
              <a:rPr lang="en-US" dirty="0">
                <a:solidFill>
                  <a:srgbClr val="FFFFFF"/>
                </a:solidFill>
                <a:latin typeface="Times New Roman"/>
              </a:rPr>
              <a:t>0.001</a:t>
            </a:r>
            <a:r>
              <a:rPr lang="en-US" sz="4000" b="0" i="0" u="none" strike="noStrike" baseline="0" dirty="0">
                <a:solidFill>
                  <a:srgbClr val="FFFFFF"/>
                </a:solidFill>
                <a:latin typeface="Times New Roman"/>
              </a:rPr>
              <a:t>/patience=10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E7A80-F6A6-2F68-37CF-5346F236BC25}"/>
              </a:ext>
            </a:extLst>
          </p:cNvPr>
          <p:cNvSpPr txBox="1"/>
          <p:nvPr/>
        </p:nvSpPr>
        <p:spPr>
          <a:xfrm>
            <a:off x="625928" y="2041071"/>
            <a:ext cx="3456214" cy="40957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3991A-736D-1CC2-3D23-F99CAE1A91C5}"/>
              </a:ext>
            </a:extLst>
          </p:cNvPr>
          <p:cNvSpPr txBox="1"/>
          <p:nvPr/>
        </p:nvSpPr>
        <p:spPr>
          <a:xfrm>
            <a:off x="690562" y="1940718"/>
            <a:ext cx="3845718" cy="41552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5DF680E-2B7D-50E8-6135-46CAB9EE2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85" y="1716994"/>
            <a:ext cx="4746172" cy="2204811"/>
          </a:xfrm>
          <a:prstGeom prst="rect">
            <a:avLst/>
          </a:prstGeom>
        </p:spPr>
      </p:pic>
      <p:pic>
        <p:nvPicPr>
          <p:cNvPr id="11" name="Picture 10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1F432B47-183F-1B1E-70B7-46795F1E5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885" y="1722664"/>
            <a:ext cx="4884058" cy="24765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DB45D4-2387-18F1-F27F-3FEAC8183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565" y="4332967"/>
            <a:ext cx="4868183" cy="2502808"/>
          </a:xfrm>
          <a:prstGeom prst="rect">
            <a:avLst/>
          </a:prstGeom>
        </p:spPr>
      </p:pic>
      <p:pic>
        <p:nvPicPr>
          <p:cNvPr id="13" name="Picture 12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188DE876-1E85-46F5-8186-1FBBFD703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914" y="4088493"/>
            <a:ext cx="4746172" cy="274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67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E8DAC-81A7-B4DB-CFE4-BBB26E02F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871259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GRU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A1ABBC-CFF5-0AF1-9969-6CCFA4115BAE}"/>
              </a:ext>
            </a:extLst>
          </p:cNvPr>
          <p:cNvSpPr txBox="1"/>
          <p:nvPr/>
        </p:nvSpPr>
        <p:spPr>
          <a:xfrm>
            <a:off x="583231" y="2030746"/>
            <a:ext cx="6147595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Gated Recurrent Unit </a:t>
            </a:r>
            <a:endParaRPr lang="en-US"/>
          </a:p>
          <a:p>
            <a:endParaRPr lang="en-US" sz="2000" b="1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Poboljšana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verzija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običnog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RNN-a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Koristi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gate-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ove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za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pamćenje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važnih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informacija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Jednostavnija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arhitektura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od LSTM-a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Manji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broj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parametara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Brže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treniranje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uz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slične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performanse</a:t>
            </a:r>
            <a:endParaRPr lang="en-US" sz="2000" dirty="0" err="1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78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0547-012F-0BB7-5164-CF901F1F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33374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Rezultati GRU </a:t>
            </a:r>
            <a:r>
              <a:rPr lang="en-US" dirty="0" err="1">
                <a:latin typeface="Times New Roman"/>
                <a:cs typeface="Times New Roman"/>
              </a:rPr>
              <a:t>modela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lr</a:t>
            </a:r>
            <a:r>
              <a:rPr lang="en-US" dirty="0">
                <a:latin typeface="Times New Roman"/>
                <a:cs typeface="Times New Roman"/>
              </a:rPr>
              <a:t>=0.0005/patience=10</a:t>
            </a:r>
            <a:endParaRPr lang="en-US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C94B35B-2A78-ABFB-5AC2-896D3460E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38" y="1398815"/>
            <a:ext cx="4915353" cy="2637971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04C212C6-BA0D-BEA2-FA39-F6C099351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858" y="1490435"/>
            <a:ext cx="4927600" cy="2628901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655143F8-2147-4EFD-03B6-EB8FBCF97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43" y="4124779"/>
            <a:ext cx="4920343" cy="2657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0CB2BA-CBD5-5859-A4F4-5B5A7DCC84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537" y="4224110"/>
            <a:ext cx="4926239" cy="256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52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A0AE-B0E2-BCFF-B14A-E5535BB39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98688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Rezultati GRU </a:t>
            </a:r>
            <a:r>
              <a:rPr lang="en-US" dirty="0" err="1">
                <a:latin typeface="Times New Roman"/>
                <a:cs typeface="Times New Roman"/>
              </a:rPr>
              <a:t>modela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lr</a:t>
            </a:r>
            <a:r>
              <a:rPr lang="en-US" dirty="0">
                <a:latin typeface="Times New Roman"/>
                <a:cs typeface="Times New Roman"/>
              </a:rPr>
              <a:t>=0.001/patience=5</a:t>
            </a:r>
            <a:endParaRPr lang="en-US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D29A57E-5CC6-FC9F-511D-B7A87EBB2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49" y="1507672"/>
            <a:ext cx="5012418" cy="2391229"/>
          </a:xfrm>
          <a:prstGeom prst="rect">
            <a:avLst/>
          </a:prstGeom>
        </p:spPr>
      </p:pic>
      <p:pic>
        <p:nvPicPr>
          <p:cNvPr id="6" name="Picture 5" descr="A graph of a line&#10;&#10;AI-generated content may be incorrect.">
            <a:extLst>
              <a:ext uri="{FF2B5EF4-FFF2-40B4-BE49-F238E27FC236}">
                <a16:creationId xmlns:a16="http://schemas.microsoft.com/office/drawing/2014/main" id="{4FBDFE1A-9F1C-785E-6154-129B50245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886" y="1504950"/>
            <a:ext cx="4818743" cy="2527301"/>
          </a:xfrm>
          <a:prstGeom prst="rect">
            <a:avLst/>
          </a:prstGeom>
        </p:spPr>
      </p:pic>
      <p:pic>
        <p:nvPicPr>
          <p:cNvPr id="7" name="Picture 6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BF4A0D68-7C87-7F5E-6FA1-C710DECCB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44" y="4037693"/>
            <a:ext cx="5007427" cy="26216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18067A-FBB1-57F0-49F9-47411842D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567" y="4137026"/>
            <a:ext cx="4817381" cy="25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8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46E2-F021-7BEA-9038-04642414C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40631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CNN-LSTM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123BF-702D-54AF-154B-24AD1C592B1E}"/>
              </a:ext>
            </a:extLst>
          </p:cNvPr>
          <p:cNvSpPr txBox="1"/>
          <p:nvPr/>
        </p:nvSpPr>
        <p:spPr>
          <a:xfrm>
            <a:off x="651844" y="2118495"/>
            <a:ext cx="5327575" cy="3823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ADEDE-3117-AE6B-EA73-0E26A7147359}"/>
              </a:ext>
            </a:extLst>
          </p:cNvPr>
          <p:cNvSpPr txBox="1"/>
          <p:nvPr/>
        </p:nvSpPr>
        <p:spPr>
          <a:xfrm>
            <a:off x="614238" y="1830179"/>
            <a:ext cx="373557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latin typeface="Times New Roman"/>
                <a:ea typeface="+mn-lt"/>
                <a:cs typeface="Times New Roman"/>
              </a:rPr>
              <a:t>Senzori</a:t>
            </a:r>
            <a:endParaRPr lang="en-US" sz="2000" b="1">
              <a:latin typeface="Times New Roman"/>
              <a:ea typeface="+mn-lt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↓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CNN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↓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Feature Maps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↓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LSTM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↓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Dense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↓</a:t>
            </a:r>
            <a:endParaRPr lang="en-US" sz="2000" b="1">
              <a:latin typeface="Times New Roman"/>
              <a:cs typeface="Times New Roman"/>
            </a:endParaRPr>
          </a:p>
          <a:p>
            <a:pPr algn="l"/>
            <a:r>
              <a:rPr lang="en-US" sz="2000" b="1" dirty="0" err="1">
                <a:latin typeface="Times New Roman"/>
                <a:ea typeface="+mn-lt"/>
                <a:cs typeface="Times New Roman"/>
              </a:rPr>
              <a:t>Softmax</a:t>
            </a:r>
            <a:endParaRPr lang="en-US" sz="2000" b="1" dirty="0" err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75928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0B34-61C0-A25D-4FBF-B15BD2AB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84174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Rezultati CNN-LSTM </a:t>
            </a:r>
            <a:r>
              <a:rPr lang="en-US" dirty="0" err="1">
                <a:latin typeface="Times New Roman"/>
                <a:cs typeface="Times New Roman"/>
              </a:rPr>
              <a:t>modela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lr</a:t>
            </a:r>
            <a:r>
              <a:rPr lang="en-US" dirty="0">
                <a:latin typeface="Times New Roman"/>
                <a:cs typeface="Times New Roman"/>
              </a:rPr>
              <a:t>=0.0005/patience=10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2E7F7D-AFD3-D913-0DE9-160497C74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452" y="3962852"/>
            <a:ext cx="5006068" cy="2800351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D6C30B3-99BC-3C8A-807C-A7443F671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69" y="1513341"/>
            <a:ext cx="4825546" cy="2329090"/>
          </a:xfrm>
          <a:prstGeom prst="rect">
            <a:avLst/>
          </a:prstGeom>
        </p:spPr>
      </p:pic>
      <p:pic>
        <p:nvPicPr>
          <p:cNvPr id="13" name="Picture 12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3FF8DDA8-5263-6946-0B3A-FB4288DA3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771" y="1512207"/>
            <a:ext cx="5007429" cy="2324101"/>
          </a:xfrm>
          <a:prstGeom prst="rect">
            <a:avLst/>
          </a:prstGeom>
        </p:spPr>
      </p:pic>
      <p:pic>
        <p:nvPicPr>
          <p:cNvPr id="14" name="Picture 13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9D6908EC-9150-BCBD-AB46-A87AAA27D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43" y="3957864"/>
            <a:ext cx="4826001" cy="280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22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CBE8F-AD3B-5140-AFEA-06590154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91431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Rezultati CNN-LSTM </a:t>
            </a:r>
            <a:r>
              <a:rPr lang="en-US" dirty="0" err="1">
                <a:latin typeface="Times New Roman"/>
                <a:cs typeface="Times New Roman"/>
              </a:rPr>
              <a:t>modela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lr</a:t>
            </a:r>
            <a:r>
              <a:rPr lang="en-US" dirty="0">
                <a:latin typeface="Times New Roman"/>
                <a:cs typeface="Times New Roman"/>
              </a:rPr>
              <a:t>=0.001/patience=5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D69CE-1BAA-21AF-7D67-E56C95F36154}"/>
              </a:ext>
            </a:extLst>
          </p:cNvPr>
          <p:cNvSpPr txBox="1"/>
          <p:nvPr/>
        </p:nvSpPr>
        <p:spPr>
          <a:xfrm>
            <a:off x="614237" y="1780037"/>
            <a:ext cx="3898531" cy="4312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DF8DEB3-A1F9-C70A-C965-0AE9100A5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38" y="1560512"/>
            <a:ext cx="4799240" cy="23653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D239BA-860A-0F4C-7C9B-B0A5021F8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652" y="4195081"/>
            <a:ext cx="4810124" cy="2531837"/>
          </a:xfrm>
          <a:prstGeom prst="rect">
            <a:avLst/>
          </a:prstGeom>
        </p:spPr>
      </p:pic>
      <p:pic>
        <p:nvPicPr>
          <p:cNvPr id="14" name="Picture 13" descr="A graph of a graph&#10;&#10;AI-generated content may be incorrect.">
            <a:extLst>
              <a:ext uri="{FF2B5EF4-FFF2-40B4-BE49-F238E27FC236}">
                <a16:creationId xmlns:a16="http://schemas.microsoft.com/office/drawing/2014/main" id="{62E315C4-4E0A-5D97-D701-EC1805FAD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42" y="4081235"/>
            <a:ext cx="4760687" cy="2643415"/>
          </a:xfrm>
          <a:prstGeom prst="rect">
            <a:avLst/>
          </a:prstGeom>
        </p:spPr>
      </p:pic>
      <p:pic>
        <p:nvPicPr>
          <p:cNvPr id="15" name="Picture 14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1233CD5C-E013-30B7-7660-3178C0CAF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971" y="1563007"/>
            <a:ext cx="4804229" cy="252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24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E828-B8D7-6D6D-4705-236FA6E0B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33374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Treniranje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podataka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81CFD-7C44-EB11-61DA-20A2E5BACFD9}"/>
              </a:ext>
            </a:extLst>
          </p:cNvPr>
          <p:cNvSpPr txBox="1"/>
          <p:nvPr/>
        </p:nvSpPr>
        <p:spPr>
          <a:xfrm>
            <a:off x="589166" y="1892855"/>
            <a:ext cx="513954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ea typeface="+mn-lt"/>
                <a:cs typeface="Times New Roman"/>
              </a:rPr>
              <a:t>Forward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 ↓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Loss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 ↓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Backpropagation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 ↓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Adam Optimizer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     ↓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Update </a:t>
            </a:r>
            <a:r>
              <a:rPr lang="en-US" sz="2000" b="1" dirty="0" err="1">
                <a:latin typeface="Times New Roman"/>
                <a:ea typeface="+mn-lt"/>
                <a:cs typeface="Times New Roman"/>
              </a:rPr>
              <a:t>težina</a:t>
            </a:r>
            <a:endParaRPr lang="en-US" sz="2000" i="1" dirty="0" err="1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548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91E52-4CE7-3F4D-2908-039BA39C6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704345"/>
          </a:xfrm>
        </p:spPr>
        <p:txBody>
          <a:bodyPr/>
          <a:lstStyle/>
          <a:p>
            <a:r>
              <a:rPr lang="en-US" dirty="0" err="1"/>
              <a:t>Evaluacija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6DB14-5800-DF1D-C09C-846706439D6C}"/>
              </a:ext>
            </a:extLst>
          </p:cNvPr>
          <p:cNvSpPr txBox="1"/>
          <p:nvPr/>
        </p:nvSpPr>
        <p:spPr>
          <a:xfrm>
            <a:off x="589167" y="2131030"/>
            <a:ext cx="4989117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latin typeface="Times New Roman"/>
                <a:ea typeface="+mn-lt"/>
                <a:cs typeface="Times New Roman"/>
              </a:rPr>
              <a:t>Koristili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b="1" dirty="0" err="1">
                <a:latin typeface="Times New Roman"/>
                <a:ea typeface="+mn-lt"/>
                <a:cs typeface="Times New Roman"/>
              </a:rPr>
              <a:t>smo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:</a:t>
            </a:r>
            <a:endParaRPr lang="en-US" sz="2000" b="1" dirty="0">
              <a:latin typeface="Times New Roman"/>
              <a:cs typeface="Times New Roman"/>
            </a:endParaRPr>
          </a:p>
          <a:p>
            <a:endParaRPr lang="en-US" sz="2000" b="1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Accuracy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Precision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Recall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F1-score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Confusion Matrix</a:t>
            </a:r>
            <a:endParaRPr lang="en-US" sz="200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65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1CC8-84FF-E3C3-4984-5C07BDEB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675317"/>
          </a:xfrm>
        </p:spPr>
        <p:txBody>
          <a:bodyPr/>
          <a:lstStyle/>
          <a:p>
            <a:r>
              <a:rPr lang="en-US" dirty="0">
                <a:latin typeface="Times New Roman"/>
                <a:ea typeface="+mj-lt"/>
                <a:cs typeface="Times New Roman"/>
              </a:rPr>
              <a:t>Rezultati </a:t>
            </a:r>
            <a:r>
              <a:rPr lang="en-US" dirty="0" err="1">
                <a:latin typeface="Times New Roman"/>
                <a:ea typeface="+mj-lt"/>
                <a:cs typeface="Times New Roman"/>
              </a:rPr>
              <a:t>modela</a:t>
            </a:r>
            <a:endParaRPr lang="en-US" dirty="0" err="1">
              <a:latin typeface="Times New Roman"/>
              <a:cs typeface="Times New Roman"/>
            </a:endParaRPr>
          </a:p>
        </p:txBody>
      </p:sp>
      <p:pic>
        <p:nvPicPr>
          <p:cNvPr id="3" name="Picture 2" descr="A black screen with numbers and green text&#10;&#10;AI-generated content may be incorrect.">
            <a:extLst>
              <a:ext uri="{FF2B5EF4-FFF2-40B4-BE49-F238E27FC236}">
                <a16:creationId xmlns:a16="http://schemas.microsoft.com/office/drawing/2014/main" id="{A3F1421D-9DDE-23FB-A89A-26E459B2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72" y="1680643"/>
            <a:ext cx="9499600" cy="396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92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288" y="276729"/>
            <a:ext cx="4899628" cy="2331490"/>
          </a:xfrm>
          <a:noFill/>
        </p:spPr>
        <p:txBody>
          <a:bodyPr anchor="b"/>
          <a:lstStyle/>
          <a:p>
            <a:r>
              <a:rPr lang="en-US" dirty="0" err="1">
                <a:latin typeface="Times New Roman"/>
                <a:cs typeface="Times New Roman"/>
              </a:rPr>
              <a:t>Zaključak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934" y="2827209"/>
            <a:ext cx="5468983" cy="3442144"/>
          </a:xfr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1600" dirty="0" err="1">
                <a:latin typeface="Times New Roman"/>
                <a:cs typeface="Times New Roman"/>
              </a:rPr>
              <a:t>Implementirano</a:t>
            </a:r>
            <a:r>
              <a:rPr lang="en-US" sz="1600" dirty="0">
                <a:latin typeface="Times New Roman"/>
                <a:cs typeface="Times New Roman"/>
              </a:rPr>
              <a:t> je </a:t>
            </a:r>
            <a:r>
              <a:rPr lang="en-US" sz="1600" b="1" dirty="0">
                <a:latin typeface="Times New Roman"/>
                <a:cs typeface="Times New Roman"/>
              </a:rPr>
              <a:t>5 </a:t>
            </a:r>
            <a:r>
              <a:rPr lang="en-US" sz="1600" b="1" dirty="0" err="1">
                <a:latin typeface="Times New Roman"/>
                <a:cs typeface="Times New Roman"/>
              </a:rPr>
              <a:t>različitih</a:t>
            </a:r>
            <a:r>
              <a:rPr lang="en-US" sz="1600" b="1" dirty="0">
                <a:latin typeface="Times New Roman"/>
                <a:cs typeface="Times New Roman"/>
              </a:rPr>
              <a:t> </a:t>
            </a:r>
            <a:r>
              <a:rPr lang="en-US" sz="1600" b="1" dirty="0" err="1">
                <a:latin typeface="Times New Roman"/>
                <a:cs typeface="Times New Roman"/>
              </a:rPr>
              <a:t>modela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dubokog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učenja</a:t>
            </a:r>
            <a:r>
              <a:rPr lang="en-US" sz="1600" dirty="0">
                <a:latin typeface="Times New Roman"/>
                <a:cs typeface="Times New Roman"/>
              </a:rPr>
              <a:t>. </a:t>
            </a:r>
            <a:endParaRPr lang="en-US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1600" dirty="0" err="1">
                <a:latin typeface="Times New Roman"/>
                <a:cs typeface="Times New Roman"/>
              </a:rPr>
              <a:t>Upoređene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su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različite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vrijednosti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b="1" dirty="0">
                <a:latin typeface="Times New Roman"/>
                <a:cs typeface="Times New Roman"/>
              </a:rPr>
              <a:t>learning rate-a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i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b="1" dirty="0" err="1">
                <a:latin typeface="Times New Roman"/>
                <a:cs typeface="Times New Roman"/>
              </a:rPr>
              <a:t>patience</a:t>
            </a:r>
            <a:r>
              <a:rPr lang="en-US" sz="1600" dirty="0" err="1">
                <a:latin typeface="Times New Roman"/>
                <a:cs typeface="Times New Roman"/>
              </a:rPr>
              <a:t>parametra</a:t>
            </a:r>
            <a:r>
              <a:rPr lang="en-US" sz="1600" dirty="0">
                <a:latin typeface="Times New Roman"/>
                <a:cs typeface="Times New Roman"/>
              </a:rPr>
              <a:t>. 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1600" b="1" dirty="0">
                <a:latin typeface="Times New Roman"/>
                <a:cs typeface="Times New Roman"/>
              </a:rPr>
              <a:t>CNN model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ostvario</a:t>
            </a:r>
            <a:r>
              <a:rPr lang="en-US" sz="1600" dirty="0">
                <a:latin typeface="Times New Roman"/>
                <a:cs typeface="Times New Roman"/>
              </a:rPr>
              <a:t> je </a:t>
            </a:r>
            <a:r>
              <a:rPr lang="en-US" sz="1600" dirty="0" err="1">
                <a:latin typeface="Times New Roman"/>
                <a:cs typeface="Times New Roman"/>
              </a:rPr>
              <a:t>najbolje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rezultate</a:t>
            </a:r>
            <a:r>
              <a:rPr lang="en-US" sz="1600" dirty="0">
                <a:latin typeface="Times New Roman"/>
                <a:cs typeface="Times New Roman"/>
              </a:rPr>
              <a:t>: </a:t>
            </a:r>
          </a:p>
          <a:p>
            <a:pPr marL="74295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1600">
                <a:latin typeface="Times New Roman"/>
                <a:cs typeface="Times New Roman"/>
              </a:rPr>
              <a:t>Accuracy </a:t>
            </a:r>
            <a:r>
              <a:rPr lang="en-US" sz="1600" b="1">
                <a:latin typeface="Times New Roman"/>
                <a:cs typeface="Times New Roman"/>
              </a:rPr>
              <a:t>89.11%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</a:p>
          <a:p>
            <a:pPr marL="74295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1600">
                <a:latin typeface="Times New Roman"/>
                <a:cs typeface="Times New Roman"/>
              </a:rPr>
              <a:t>Weighted F1-score </a:t>
            </a:r>
            <a:r>
              <a:rPr lang="en-US" sz="1600" b="1">
                <a:latin typeface="Times New Roman"/>
                <a:cs typeface="Times New Roman"/>
              </a:rPr>
              <a:t>89.12%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1600" dirty="0" err="1">
                <a:latin typeface="Times New Roman"/>
                <a:cs typeface="Times New Roman"/>
              </a:rPr>
              <a:t>Konvolucione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mreže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pokazale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su</a:t>
            </a:r>
            <a:r>
              <a:rPr lang="en-US" sz="1600" dirty="0">
                <a:latin typeface="Times New Roman"/>
                <a:cs typeface="Times New Roman"/>
              </a:rPr>
              <a:t> se </a:t>
            </a:r>
            <a:r>
              <a:rPr lang="en-US" sz="1600" dirty="0" err="1">
                <a:latin typeface="Times New Roman"/>
                <a:cs typeface="Times New Roman"/>
              </a:rPr>
              <a:t>najpogodnijim</a:t>
            </a:r>
            <a:r>
              <a:rPr lang="en-US" sz="1600" dirty="0">
                <a:latin typeface="Times New Roman"/>
                <a:cs typeface="Times New Roman"/>
              </a:rPr>
              <a:t> za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Times New Roman"/>
                <a:cs typeface="Times New Roman"/>
              </a:rPr>
              <a:t>      </a:t>
            </a:r>
            <a:r>
              <a:rPr lang="en-US" sz="1600" dirty="0" err="1">
                <a:latin typeface="Times New Roman"/>
                <a:cs typeface="Times New Roman"/>
              </a:rPr>
              <a:t>analizu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en-US" sz="1600" dirty="0" err="1">
                <a:latin typeface="Times New Roman"/>
                <a:cs typeface="Times New Roman"/>
              </a:rPr>
              <a:t>senzorskih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vremenskih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serija</a:t>
            </a:r>
            <a:r>
              <a:rPr lang="en-US" sz="1600" dirty="0">
                <a:latin typeface="Times New Roman"/>
                <a:cs typeface="Times New Roman"/>
              </a:rPr>
              <a:t>. </a:t>
            </a:r>
            <a:endParaRPr lang="en-US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Model se </a:t>
            </a:r>
            <a:r>
              <a:rPr lang="en-US" sz="1600" dirty="0" err="1">
                <a:latin typeface="Times New Roman"/>
                <a:cs typeface="Times New Roman"/>
              </a:rPr>
              <a:t>može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primijeniti</a:t>
            </a:r>
            <a:r>
              <a:rPr lang="en-US" sz="1600" dirty="0">
                <a:latin typeface="Times New Roman"/>
                <a:cs typeface="Times New Roman"/>
              </a:rPr>
              <a:t> u: </a:t>
            </a:r>
          </a:p>
          <a:p>
            <a:pPr marL="74295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1600" dirty="0" err="1">
                <a:latin typeface="Times New Roman"/>
                <a:cs typeface="Times New Roman"/>
              </a:rPr>
              <a:t>pametnim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telefonima</a:t>
            </a:r>
            <a:r>
              <a:rPr lang="en-US" sz="1600" dirty="0">
                <a:latin typeface="Times New Roman"/>
                <a:cs typeface="Times New Roman"/>
              </a:rPr>
              <a:t>, </a:t>
            </a:r>
          </a:p>
          <a:p>
            <a:pPr marL="74295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1600" dirty="0" err="1">
                <a:latin typeface="Times New Roman"/>
                <a:cs typeface="Times New Roman"/>
              </a:rPr>
              <a:t>pametnim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satovima</a:t>
            </a:r>
            <a:r>
              <a:rPr lang="en-US" sz="1600" dirty="0">
                <a:latin typeface="Times New Roman"/>
                <a:cs typeface="Times New Roman"/>
              </a:rPr>
              <a:t>, </a:t>
            </a:r>
          </a:p>
          <a:p>
            <a:pPr marL="74295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fitness </a:t>
            </a:r>
            <a:r>
              <a:rPr lang="en-US" sz="1600" dirty="0" err="1">
                <a:latin typeface="Times New Roman"/>
                <a:cs typeface="Times New Roman"/>
              </a:rPr>
              <a:t>aplikacijama</a:t>
            </a:r>
            <a:r>
              <a:rPr lang="en-US" sz="1600" dirty="0">
                <a:latin typeface="Times New Roman"/>
                <a:cs typeface="Times New Roman"/>
              </a:rPr>
              <a:t>, </a:t>
            </a:r>
          </a:p>
          <a:p>
            <a:pPr marL="74295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,Sans-Serif"/>
              <a:buChar char="•"/>
            </a:pPr>
            <a:r>
              <a:rPr lang="en-US" sz="1600" dirty="0" err="1">
                <a:latin typeface="Times New Roman"/>
                <a:cs typeface="Times New Roman"/>
              </a:rPr>
              <a:t>zdravstvenim</a:t>
            </a:r>
            <a:r>
              <a:rPr lang="en-US" sz="1600" dirty="0">
                <a:latin typeface="Times New Roman"/>
                <a:cs typeface="Times New Roman"/>
              </a:rPr>
              <a:t> </a:t>
            </a:r>
            <a:r>
              <a:rPr lang="en-US" sz="1600" dirty="0" err="1">
                <a:latin typeface="Times New Roman"/>
                <a:cs typeface="Times New Roman"/>
              </a:rPr>
              <a:t>sistemima</a:t>
            </a:r>
            <a:r>
              <a:rPr lang="en-US" sz="1600" dirty="0">
                <a:latin typeface="Times New Roman"/>
                <a:cs typeface="Times New Roman"/>
              </a:rPr>
              <a:t>.</a:t>
            </a:r>
            <a:endParaRPr lang="en-US" sz="1600" dirty="0"/>
          </a:p>
        </p:txBody>
      </p:sp>
      <p:pic>
        <p:nvPicPr>
          <p:cNvPr id="20" name="Picture Placeholder 19" descr="A close-up of a graph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/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629264" y="5726115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>
            <a:normAutofit/>
          </a:bodyPr>
          <a:lstStyle/>
          <a:p>
            <a:r>
              <a:rPr lang="en-US"/>
              <a:t>Hvala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pažnji</a:t>
            </a:r>
            <a:r>
              <a:rPr lang="en-US"/>
              <a:t>!!!</a:t>
            </a:r>
            <a:endParaRPr lang="en-US" dirty="0"/>
          </a:p>
        </p:txBody>
      </p:sp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/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B474D3-63E0-E2DF-052E-844DF10FC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3DFloatVTI</Template>
  <TotalTime>0</TotalTime>
  <Words>416</Words>
  <Application>Microsoft Office PowerPoint</Application>
  <PresentationFormat>Widescreen</PresentationFormat>
  <Paragraphs>117</Paragraphs>
  <Slides>26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3DFloatVTI</vt:lpstr>
      <vt:lpstr>Detekcija ljudskih aktivnosti</vt:lpstr>
      <vt:lpstr>Problem koji rešavamo ​</vt:lpstr>
      <vt:lpstr>Dataset</vt:lpstr>
      <vt:lpstr>Tok projekta</vt:lpstr>
      <vt:lpstr>Priprema podataka</vt:lpstr>
      <vt:lpstr>Neuronske mreže</vt:lpstr>
      <vt:lpstr>Dense model</vt:lpstr>
      <vt:lpstr>Rezultati Dense modela lr=0.0005/patience=10</vt:lpstr>
      <vt:lpstr>Rezultati Dense modela lr=0.001/patience=5 </vt:lpstr>
      <vt:lpstr>CNN</vt:lpstr>
      <vt:lpstr>Rezultati CNN modela lr=0.0005/patience=10</vt:lpstr>
      <vt:lpstr>Rezultati CNN modela lr=0.001/patience=5</vt:lpstr>
      <vt:lpstr>LSTM</vt:lpstr>
      <vt:lpstr>Rezultati LSTM modela lr=0.0005/patience=10</vt:lpstr>
      <vt:lpstr>Rezultati LSTM modela lr=0.001/patience=10</vt:lpstr>
      <vt:lpstr>GRU</vt:lpstr>
      <vt:lpstr>Rezultati GRU modela lr=0.0005/patience=10</vt:lpstr>
      <vt:lpstr>Rezultati GRU modela lr=0.001/patience=5</vt:lpstr>
      <vt:lpstr>CNN-LSTM</vt:lpstr>
      <vt:lpstr>Rezultati CNN-LSTM modela lr=0.0005/patience=10</vt:lpstr>
      <vt:lpstr>Rezultati CNN-LSTM modela lr=0.001/patience=5</vt:lpstr>
      <vt:lpstr>Treniranje podataka</vt:lpstr>
      <vt:lpstr>Evaluacija</vt:lpstr>
      <vt:lpstr>Rezultati modela</vt:lpstr>
      <vt:lpstr>Zaključak</vt:lpstr>
      <vt:lpstr>Hvala na pažnji!!!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673</cp:revision>
  <dcterms:created xsi:type="dcterms:W3CDTF">2026-07-04T20:05:33Z</dcterms:created>
  <dcterms:modified xsi:type="dcterms:W3CDTF">2026-07-05T16:48:38Z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